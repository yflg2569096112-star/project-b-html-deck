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14"/>
  </p:normalViewPr>
  <p:slideViewPr>
    <p:cSldViewPr snapToGrid="0">
      <p:cViewPr varScale="1">
        <p:scale>
          <a:sx n="135" d="100"/>
          <a:sy n="135" d="100"/>
        </p:scale>
        <p:origin x="1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9FD7280-1940-4B4B-AABA-9A484183E31C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雅思:AI</a:t>
            </a:r>
            <a:r>
              <a:rPr sz="36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把课堂内容变成可复用服务</a:t>
            </a:r>
            <a:endParaRPr sz="36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1BA753-1E08-4980-AAA4-C0A24847A580}"/>
              </a:ext>
            </a:extLst>
          </p:cNvPr>
          <p:cNvSpPr>
            <a:spLocks noGrp="1"/>
          </p:cNvSpPr>
          <p:nvPr/>
        </p:nvSpPr>
        <p:spPr>
          <a:xfrm>
            <a:off x="933450" y="354330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EAF6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EAF6FF"/>
                </a:solidFill>
                <a:latin typeface="微软雅黑"/>
                <a:ea typeface="微软雅黑"/>
                <a:cs typeface="微软雅黑"/>
              </a:rPr>
              <a:t>课堂内容 -&gt; 可复习、可追踪、可复用的服务包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A7DF01-9F24-4E5B-864A-485D5F062023}"/>
              </a:ext>
            </a:extLst>
          </p:cNvPr>
          <p:cNvSpPr>
            <a:spLocks noGrp="1"/>
          </p:cNvSpPr>
          <p:nvPr/>
        </p:nvSpPr>
        <p:spPr>
          <a:xfrm>
            <a:off x="895350" y="4400550"/>
            <a:ext cx="6858000" cy="1524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237BF7-3C3F-4E31-9973-B8A8CA4C419A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微创新大赛 AI 数字化赛道  |  上海学校  |  闫敬文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A51E22-B4F2-4C42-A331-13BF3957E13E}"/>
              </a:ext>
            </a:extLst>
          </p:cNvPr>
          <p:cNvSpPr>
            <a:spLocks noGrp="1"/>
          </p:cNvSpPr>
          <p:nvPr/>
        </p:nvSpPr>
        <p:spPr>
          <a:xfrm>
            <a:off x="8591550" y="4781550"/>
            <a:ext cx="1762125" cy="41910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M2 小范围测试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25ECA6-9FD1-44A2-80F4-514DDE69006C}"/>
              </a:ext>
            </a:extLst>
          </p:cNvPr>
          <p:cNvSpPr>
            <a:spLocks noGrp="1"/>
          </p:cNvSpPr>
          <p:nvPr/>
        </p:nvSpPr>
        <p:spPr>
          <a:xfrm>
            <a:off x="8743950" y="3524250"/>
            <a:ext cx="1428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18/33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E57B86-22ED-4E96-90CA-F2DD62AC8F5C}"/>
              </a:ext>
            </a:extLst>
          </p:cNvPr>
          <p:cNvSpPr>
            <a:spLocks noGrp="1"/>
          </p:cNvSpPr>
          <p:nvPr/>
        </p:nvSpPr>
        <p:spPr>
          <a:xfrm>
            <a:off x="8743950" y="407670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出场顺序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96FE3A-5E98-4AE7-920E-108A6C495A95}"/>
              </a:ext>
            </a:extLst>
          </p:cNvPr>
          <p:cNvSpPr>
            <a:spLocks noGrp="1"/>
          </p:cNvSpPr>
          <p:nvPr/>
        </p:nvSpPr>
        <p:spPr>
          <a:xfrm>
            <a:off x="10096500" y="3524250"/>
            <a:ext cx="1238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8min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811340-EBC4-4296-A479-C9D586AE9E26}"/>
              </a:ext>
            </a:extLst>
          </p:cNvPr>
          <p:cNvSpPr>
            <a:spLocks noGrp="1"/>
          </p:cNvSpPr>
          <p:nvPr/>
        </p:nvSpPr>
        <p:spPr>
          <a:xfrm>
            <a:off x="10096500" y="407670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路演时长</a:t>
            </a:r>
          </a:p>
        </p:txBody>
      </p:sp>
    </p:spTree>
    <p:extLst>
      <p:ext uri="{BB962C8B-B14F-4D97-AF65-F5344CB8AC3E}">
        <p14:creationId xmlns:p14="http://schemas.microsoft.com/office/powerpoint/2010/main" val="90730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9FF17F-996F-4794-9926-C1DA81F0B3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二、场景介绍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14FCB5-BCC2-452C-9FB4-2DF1EF57D50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真实截图说明：学生最终拿到的是专属复习页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04E216A-BFE2-4D97-9BA1-6CC2AD695A9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3257550" cy="3886200"/>
          </a:xfrm>
          <a:prstGeom prst="roundRect">
            <a:avLst>
              <a:gd name="adj" fmla="val 2339"/>
            </a:avLst>
          </a:prstGeom>
          <a:solidFill>
            <a:srgbClr val="F4F7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9F3798-218A-43C9-92B3-46D860909692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飞书模板要求先讲清楚痛点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6B7075-1ACC-48DE-A931-89866B573F1E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这里不再只放概念图，直接用 Project B 原文里的真实截图承接场景。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E17D7E3-8466-42DD-BC14-380C401D4DB9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914650" cy="762000"/>
          </a:xfrm>
          <a:prstGeom prst="roundRect">
            <a:avLst>
              <a:gd name="adj" fmla="val 10000"/>
            </a:avLst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9FC865-0D16-4608-B220-0D046E393EB7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323850" cy="323850"/>
          </a:xfrm>
          <a:prstGeom prst="rect">
            <a:avLst/>
          </a:prstGeom>
          <a:solidFill>
            <a:srgbClr val="E31B23"/>
          </a:solidFill>
          <a:ln w="0">
            <a:solidFill>
              <a:srgbClr val="E31B2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36B064-0830-4BE4-B74C-58C0C53BA848}"/>
              </a:ext>
            </a:extLst>
          </p:cNvPr>
          <p:cNvSpPr>
            <a:spLocks noGrp="1"/>
          </p:cNvSpPr>
          <p:nvPr/>
        </p:nvSpPr>
        <p:spPr>
          <a:xfrm>
            <a:off x="1447800" y="31813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内容散落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A83791-9202-44CB-9CAB-7345F705162C}"/>
              </a:ext>
            </a:extLst>
          </p:cNvPr>
          <p:cNvSpPr>
            <a:spLocks noGrp="1"/>
          </p:cNvSpPr>
          <p:nvPr/>
        </p:nvSpPr>
        <p:spPr>
          <a:xfrm>
            <a:off x="1390650" y="34480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课堂重点在笔记、聊天和记忆里。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1772024-111A-4396-B523-98C7643AE3E6}"/>
              </a:ext>
            </a:extLst>
          </p:cNvPr>
          <p:cNvSpPr>
            <a:spLocks noGrp="1"/>
          </p:cNvSpPr>
          <p:nvPr/>
        </p:nvSpPr>
        <p:spPr>
          <a:xfrm>
            <a:off x="800100" y="3924300"/>
            <a:ext cx="29146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899AC6-DD0D-4243-87FC-44BB872E939D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323850" cy="3238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B90359-5FEB-4533-83EF-BFF9376663A2}"/>
              </a:ext>
            </a:extLst>
          </p:cNvPr>
          <p:cNvSpPr>
            <a:spLocks noGrp="1"/>
          </p:cNvSpPr>
          <p:nvPr/>
        </p:nvSpPr>
        <p:spPr>
          <a:xfrm>
            <a:off x="1447800" y="40576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学生不知复习什么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F81B34-01A5-4740-912C-EE924D0F9245}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课后只收到反馈，缺少可反复用的材料。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81F3A07-2DAC-47FD-A0E3-BBF9F0C98F8F}"/>
              </a:ext>
            </a:extLst>
          </p:cNvPr>
          <p:cNvSpPr>
            <a:spLocks noGrp="1"/>
          </p:cNvSpPr>
          <p:nvPr/>
        </p:nvSpPr>
        <p:spPr>
          <a:xfrm>
            <a:off x="800100" y="4800600"/>
            <a:ext cx="29146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BF7241-AEE3-45B8-A215-C77270D218F3}"/>
              </a:ext>
            </a:extLst>
          </p:cNvPr>
          <p:cNvSpPr>
            <a:spLocks noGrp="1"/>
          </p:cNvSpPr>
          <p:nvPr/>
        </p:nvSpPr>
        <p:spPr>
          <a:xfrm>
            <a:off x="990600" y="4972050"/>
            <a:ext cx="323850" cy="3238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1A08DB-7D55-4CF6-AD59-0C60877D09F7}"/>
              </a:ext>
            </a:extLst>
          </p:cNvPr>
          <p:cNvSpPr>
            <a:spLocks noGrp="1"/>
          </p:cNvSpPr>
          <p:nvPr/>
        </p:nvSpPr>
        <p:spPr>
          <a:xfrm>
            <a:off x="1447800" y="49339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助教没有抓手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DC6342-3130-4A2A-BD76-0070296D6E18}"/>
              </a:ext>
            </a:extLst>
          </p:cNvPr>
          <p:cNvSpPr>
            <a:spLocks noGrp="1"/>
          </p:cNvSpPr>
          <p:nvPr/>
        </p:nvSpPr>
        <p:spPr>
          <a:xfrm>
            <a:off x="1390650" y="52006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跟进时不知道应先查作业还是查单词。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FC16050-B2D3-4E00-86D6-7867C992FF93}"/>
              </a:ext>
            </a:extLst>
          </p:cNvPr>
          <p:cNvSpPr>
            <a:spLocks noGrp="1"/>
          </p:cNvSpPr>
          <p:nvPr/>
        </p:nvSpPr>
        <p:spPr>
          <a:xfrm>
            <a:off x="4210050" y="1885950"/>
            <a:ext cx="66484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t="10000" b="10000"/>
          <a:stretch>
            <a:fillRect/>
          </a:stretch>
        </p:blipFill>
        <p:spPr>
          <a:xfrm>
            <a:off x="4248150" y="1924050"/>
            <a:ext cx="6572250" cy="37338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2CBB8D8E-0435-434C-96B5-BC04E52CF460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1181100" cy="285750"/>
          </a:xfrm>
          <a:prstGeom prst="rect">
            <a:avLst/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29 张复习卡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A3877F-B50E-44E4-9CAD-0B66C7960CF3}"/>
              </a:ext>
            </a:extLst>
          </p:cNvPr>
          <p:cNvSpPr>
            <a:spLocks noGrp="1"/>
          </p:cNvSpPr>
          <p:nvPr/>
        </p:nvSpPr>
        <p:spPr>
          <a:xfrm>
            <a:off x="5886450" y="2038350"/>
            <a:ext cx="118110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预计 5 分钟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ADF806-A0CB-4EA4-85F8-A8D6EB472EB8}"/>
              </a:ext>
            </a:extLst>
          </p:cNvPr>
          <p:cNvSpPr>
            <a:spLocks noGrp="1"/>
          </p:cNvSpPr>
          <p:nvPr/>
        </p:nvSpPr>
        <p:spPr>
          <a:xfrm>
            <a:off x="7219950" y="2038350"/>
            <a:ext cx="1504950" cy="285750"/>
          </a:xfrm>
          <a:prstGeom prst="rect">
            <a:avLst/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来自课堂复习库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0966AC0-8DFD-458F-A6FC-A30D78963AF2}"/>
              </a:ext>
            </a:extLst>
          </p:cNvPr>
          <p:cNvSpPr>
            <a:spLocks noGrp="1"/>
          </p:cNvSpPr>
          <p:nvPr/>
        </p:nvSpPr>
        <p:spPr>
          <a:xfrm>
            <a:off x="4324350" y="5753100"/>
            <a:ext cx="6400800" cy="400050"/>
          </a:xfrm>
          <a:prstGeom prst="roundRect">
            <a:avLst>
              <a:gd name="adj" fmla="val 19048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1BC406-4612-461A-B458-793F7EAB3BA4}"/>
              </a:ext>
            </a:extLst>
          </p:cNvPr>
          <p:cNvSpPr>
            <a:spLocks noGrp="1"/>
          </p:cNvSpPr>
          <p:nvPr/>
        </p:nvSpPr>
        <p:spPr>
          <a:xfrm>
            <a:off x="4514850" y="5829300"/>
            <a:ext cx="600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先让评委看到结果：学生打开页面就知道这节课留下了什么，并且能马上开始复习。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19918D-96B4-4E85-809A-34FD909F7021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64742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2457C90-73B5-47AF-B20D-6AE128464F5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三、方案效果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05112-2A8D-471D-A25A-48812E67C686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真实截图串起来：确认、入库、学生页、助教页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084F8DB-47CF-48C7-9CE9-CE99AE35947D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3238500" cy="39814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2F736-6F30-42F1-A254-FBC341705819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飞书模板要求：一句话说清楚效果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7B2CA-8DD5-4C5B-860F-4B6344B3E5E9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本项目的效果不是“AI 生成一段话”，而是把一节课变成多端可见的服务包。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FD6FC3-C4E0-49BF-91AA-B95ED3DBD07D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323850" cy="323850"/>
          </a:xfrm>
          <a:prstGeom prst="rect">
            <a:avLst/>
          </a:prstGeom>
          <a:solidFill>
            <a:srgbClr val="E31B23"/>
          </a:solidFill>
          <a:ln w="0">
            <a:solidFill>
              <a:srgbClr val="E31B2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41F174-108B-4736-829C-CEDF71C1B005}"/>
              </a:ext>
            </a:extLst>
          </p:cNvPr>
          <p:cNvSpPr>
            <a:spLocks noGrp="1"/>
          </p:cNvSpPr>
          <p:nvPr/>
        </p:nvSpPr>
        <p:spPr>
          <a:xfrm>
            <a:off x="1333500" y="31432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老师确认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A10EE9-58DC-49D5-9657-FFC72CE1C55A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生成内容先过质检，再写入复习库。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AE2458-E8F6-4B39-9DA5-E8C7405B002E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323850" cy="3238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ACFFF0-62FC-4926-B254-C1598FC89536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飞书沉淀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B25CAB-3274-4072-8803-0E84E0C04310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student_id、日期、类型、内容自动进入多维表。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CF0531-68D3-4F05-AEE5-CB3F1214BD00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323850" cy="3238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804CD4-94F0-4C4B-AD03-D4DD32222AB7}"/>
              </a:ext>
            </a:extLst>
          </p:cNvPr>
          <p:cNvSpPr>
            <a:spLocks noGrp="1"/>
          </p:cNvSpPr>
          <p:nvPr/>
        </p:nvSpPr>
        <p:spPr>
          <a:xfrm>
            <a:off x="1333500" y="47434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学生复习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1F2D0-56A0-432D-A8BF-CA2D71EEBFD9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学生按自己的页面复习，不看通用题库。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98D19E-1FAB-4B6A-8320-AB2F745DD4C5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323850" cy="3238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E11055-CC21-41E0-B99F-E715C3FFD266}"/>
              </a:ext>
            </a:extLst>
          </p:cNvPr>
          <p:cNvSpPr>
            <a:spLocks noGrp="1"/>
          </p:cNvSpPr>
          <p:nvPr/>
        </p:nvSpPr>
        <p:spPr>
          <a:xfrm>
            <a:off x="1333500" y="5543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助教跟进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D51013-ED97-49F2-BAA7-5AAFB6709C31}"/>
              </a:ext>
            </a:extLst>
          </p:cNvPr>
          <p:cNvSpPr>
            <a:spLocks noGrp="1"/>
          </p:cNvSpPr>
          <p:nvPr/>
        </p:nvSpPr>
        <p:spPr>
          <a:xfrm>
            <a:off x="1257300" y="58293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助教按作业和单词两维做检查。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BF24BF-CBCD-429F-8A05-65DFD2CF4097}"/>
              </a:ext>
            </a:extLst>
          </p:cNvPr>
          <p:cNvSpPr>
            <a:spLocks noGrp="1"/>
          </p:cNvSpPr>
          <p:nvPr/>
        </p:nvSpPr>
        <p:spPr>
          <a:xfrm>
            <a:off x="4229100" y="1924050"/>
            <a:ext cx="990600" cy="266700"/>
          </a:xfrm>
          <a:prstGeom prst="rect">
            <a:avLst/>
          </a:prstGeom>
          <a:solidFill>
            <a:srgbClr val="E31B23"/>
          </a:solidFill>
          <a:ln w="0">
            <a:solidFill>
              <a:srgbClr val="E31B2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确认写入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3C2C7B7-410A-4907-95A3-D88C4FA84657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32194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rcRect t="7908" b="7908"/>
          <a:stretch>
            <a:fillRect/>
          </a:stretch>
        </p:blipFill>
        <p:spPr>
          <a:xfrm>
            <a:off x="4229100" y="2266950"/>
            <a:ext cx="3143250" cy="16192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94DBAE5-51E5-4C39-89F8-52B719C15B48}"/>
              </a:ext>
            </a:extLst>
          </p:cNvPr>
          <p:cNvSpPr>
            <a:spLocks noGrp="1"/>
          </p:cNvSpPr>
          <p:nvPr/>
        </p:nvSpPr>
        <p:spPr>
          <a:xfrm>
            <a:off x="7658100" y="1924050"/>
            <a:ext cx="1676400" cy="26670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飞书多维表自动沉淀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B86FB18-2AF4-48A0-90F1-41F2E4191002}"/>
              </a:ext>
            </a:extLst>
          </p:cNvPr>
          <p:cNvSpPr>
            <a:spLocks noGrp="1"/>
          </p:cNvSpPr>
          <p:nvPr/>
        </p:nvSpPr>
        <p:spPr>
          <a:xfrm>
            <a:off x="7620000" y="2228850"/>
            <a:ext cx="32194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rcRect l="9298" r="9298"/>
          <a:stretch>
            <a:fillRect/>
          </a:stretch>
        </p:blipFill>
        <p:spPr>
          <a:xfrm>
            <a:off x="7658100" y="2266950"/>
            <a:ext cx="3143250" cy="16192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5BA1720F-625B-4259-BB51-AC130C8C7478}"/>
              </a:ext>
            </a:extLst>
          </p:cNvPr>
          <p:cNvSpPr>
            <a:spLocks noGrp="1"/>
          </p:cNvSpPr>
          <p:nvPr/>
        </p:nvSpPr>
        <p:spPr>
          <a:xfrm>
            <a:off x="4229100" y="4114800"/>
            <a:ext cx="1219200" cy="26670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学生复习管理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0D3D4FE-3EE4-46E4-BAC9-37298A8C2F47}"/>
              </a:ext>
            </a:extLst>
          </p:cNvPr>
          <p:cNvSpPr>
            <a:spLocks noGrp="1"/>
          </p:cNvSpPr>
          <p:nvPr/>
        </p:nvSpPr>
        <p:spPr>
          <a:xfrm>
            <a:off x="4191000" y="4419600"/>
            <a:ext cx="3219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rcRect t="23176" b="23176"/>
          <a:stretch>
            <a:fillRect/>
          </a:stretch>
        </p:blipFill>
        <p:spPr>
          <a:xfrm>
            <a:off x="4229100" y="4457700"/>
            <a:ext cx="3143250" cy="135255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5E554536-31B0-47BC-9E57-2A44B85696AA}"/>
              </a:ext>
            </a:extLst>
          </p:cNvPr>
          <p:cNvSpPr>
            <a:spLocks noGrp="1"/>
          </p:cNvSpPr>
          <p:nvPr/>
        </p:nvSpPr>
        <p:spPr>
          <a:xfrm>
            <a:off x="7658100" y="4114800"/>
            <a:ext cx="1219200" cy="26670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助教轻量检查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59FB50D-FE4C-4851-A60D-A2ACDE7895FC}"/>
              </a:ext>
            </a:extLst>
          </p:cNvPr>
          <p:cNvSpPr>
            <a:spLocks noGrp="1"/>
          </p:cNvSpPr>
          <p:nvPr/>
        </p:nvSpPr>
        <p:spPr>
          <a:xfrm>
            <a:off x="7620000" y="4419600"/>
            <a:ext cx="32194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rcRect t="24598" b="24598"/>
          <a:stretch>
            <a:fillRect/>
          </a:stretch>
        </p:blipFill>
        <p:spPr>
          <a:xfrm>
            <a:off x="7658100" y="4457700"/>
            <a:ext cx="3143250" cy="1352550"/>
          </a:xfrm>
          <a:prstGeom prst="rect">
            <a:avLst/>
          </a:prstGeom>
        </p:spPr>
      </p:pic>
      <p:sp>
        <p:nvSpPr>
          <p:cNvPr id="31" name="圆角矩形 30">
            <a:extLst>
              <a:ext uri="{FF2B5EF4-FFF2-40B4-BE49-F238E27FC236}">
                <a16:creationId xmlns:a16="http://schemas.microsoft.com/office/drawing/2014/main" id="{EA1CF374-0225-4B17-A5AE-F9866742DD96}"/>
              </a:ext>
            </a:extLst>
          </p:cNvPr>
          <p:cNvSpPr>
            <a:spLocks noGrp="1"/>
          </p:cNvSpPr>
          <p:nvPr/>
        </p:nvSpPr>
        <p:spPr>
          <a:xfrm>
            <a:off x="4324350" y="5848350"/>
            <a:ext cx="6381750" cy="361950"/>
          </a:xfrm>
          <a:prstGeom prst="roundRect">
            <a:avLst>
              <a:gd name="adj" fmla="val 21053"/>
            </a:avLst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6E89A4-7C1E-431B-88DC-C4483B9B9C09}"/>
              </a:ext>
            </a:extLst>
          </p:cNvPr>
          <p:cNvSpPr>
            <a:spLocks noGrp="1"/>
          </p:cNvSpPr>
          <p:nvPr/>
        </p:nvSpPr>
        <p:spPr>
          <a:xfrm>
            <a:off x="4514850" y="5905500"/>
            <a:ext cx="598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截图证据链：同一份课堂内容，最终流向学生复习、飞书留痕和助教检查。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155F19-DB7F-4F45-A954-990B2BAD8A1C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11102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F1141B7-A52A-4BCE-8A87-B512AC62031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新航道 4R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026E66-E9DC-409B-AB47-3BB521D12E4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用官方 4R 看：课后服务从“讲完”变成“可复习”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AB1A289-2261-4728-B748-0CA4A7096FCC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9906000" cy="704850"/>
          </a:xfrm>
          <a:prstGeom prst="roundRect">
            <a:avLst>
              <a:gd name="adj" fmla="val 10811"/>
            </a:avLst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CFB2DB-A74D-41CA-BF41-0B01181B3C6F}"/>
              </a:ext>
            </a:extLst>
          </p:cNvPr>
          <p:cNvSpPr>
            <a:spLocks noGrp="1"/>
          </p:cNvSpPr>
          <p:nvPr/>
        </p:nvSpPr>
        <p:spPr>
          <a:xfrm>
            <a:off x="990600" y="20859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B9ABC9-0380-432B-A357-52F003B03DBF}"/>
              </a:ext>
            </a:extLst>
          </p:cNvPr>
          <p:cNvSpPr>
            <a:spLocks noGrp="1"/>
          </p:cNvSpPr>
          <p:nvPr/>
        </p:nvSpPr>
        <p:spPr>
          <a:xfrm>
            <a:off x="990600" y="23526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结果可视化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5494C3-D1DA-4CED-9B01-58CADDF34893}"/>
              </a:ext>
            </a:extLst>
          </p:cNvPr>
          <p:cNvSpPr>
            <a:spLocks noGrp="1"/>
          </p:cNvSpPr>
          <p:nvPr/>
        </p:nvSpPr>
        <p:spPr>
          <a:xfrm>
            <a:off x="2819400" y="21145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学生个人复习页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6913E5-E652-4078-92C0-8FFB621428AB}"/>
              </a:ext>
            </a:extLst>
          </p:cNvPr>
          <p:cNvSpPr>
            <a:spLocks noGrp="1"/>
          </p:cNvSpPr>
          <p:nvPr/>
        </p:nvSpPr>
        <p:spPr>
          <a:xfrm>
            <a:off x="5676900" y="2057400"/>
            <a:ext cx="4629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学生直接看到本节课留下的词汇、例句、方法和任务。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BE49B8-9A33-48E5-81C5-5E4E169A238E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9906000" cy="704850"/>
          </a:xfrm>
          <a:prstGeom prst="roundRect">
            <a:avLst>
              <a:gd name="adj" fmla="val 10811"/>
            </a:avLst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32E8D6-0364-4D3E-8F2D-FDBDF241B3A5}"/>
              </a:ext>
            </a:extLst>
          </p:cNvPr>
          <p:cNvSpPr>
            <a:spLocks noGrp="1"/>
          </p:cNvSpPr>
          <p:nvPr/>
        </p:nvSpPr>
        <p:spPr>
          <a:xfrm>
            <a:off x="990600" y="29622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3438B2-9EC9-451B-AED1-C617BF62E699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责任配置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36CF66-F2B0-48E7-8900-EC194AE65E01}"/>
              </a:ext>
            </a:extLst>
          </p:cNvPr>
          <p:cNvSpPr>
            <a:spLocks noGrp="1"/>
          </p:cNvSpPr>
          <p:nvPr/>
        </p:nvSpPr>
        <p:spPr>
          <a:xfrm>
            <a:off x="2819400" y="29908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老师确认 / 学生复习 / 助教检查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582AD-3EB2-4684-8C03-267EAC390861}"/>
              </a:ext>
            </a:extLst>
          </p:cNvPr>
          <p:cNvSpPr>
            <a:spLocks noGrp="1"/>
          </p:cNvSpPr>
          <p:nvPr/>
        </p:nvSpPr>
        <p:spPr>
          <a:xfrm>
            <a:off x="5676900" y="2933700"/>
            <a:ext cx="4629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谁确认内容、谁完成复习、谁跟进检查，在链路里被拆清楚。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B1FD19F-6BD8-409C-AFC2-22A504275E50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9906000" cy="704850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2B423E-4970-4CE6-8593-1589F212FD8F}"/>
              </a:ext>
            </a:extLst>
          </p:cNvPr>
          <p:cNvSpPr>
            <a:spLocks noGrp="1"/>
          </p:cNvSpPr>
          <p:nvPr/>
        </p:nvSpPr>
        <p:spPr>
          <a:xfrm>
            <a:off x="990600" y="38385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6CA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CA9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43E77B-C5DD-4154-A5FF-EEC5E058FCC6}"/>
              </a:ext>
            </a:extLst>
          </p:cNvPr>
          <p:cNvSpPr>
            <a:spLocks noGrp="1"/>
          </p:cNvSpPr>
          <p:nvPr/>
        </p:nvSpPr>
        <p:spPr>
          <a:xfrm>
            <a:off x="990600" y="41052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评估督导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F2D8F6-6D51-4A5E-89DA-D3A1B5791484}"/>
              </a:ext>
            </a:extLst>
          </p:cNvPr>
          <p:cNvSpPr>
            <a:spLocks noGrp="1"/>
          </p:cNvSpPr>
          <p:nvPr/>
        </p:nvSpPr>
        <p:spPr>
          <a:xfrm>
            <a:off x="2819400" y="38671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助教检查页 + 多维表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94F0FC-F69C-43D8-9C14-D3EFF6AF325F}"/>
              </a:ext>
            </a:extLst>
          </p:cNvPr>
          <p:cNvSpPr>
            <a:spLocks noGrp="1"/>
          </p:cNvSpPr>
          <p:nvPr/>
        </p:nvSpPr>
        <p:spPr>
          <a:xfrm>
            <a:off x="5676900" y="3810000"/>
            <a:ext cx="4629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作业完成和单词掌握可被检查，过程数据可追踪。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7260767-DB59-4E9C-9FF8-D4A1E8FD95EC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9906000" cy="704850"/>
          </a:xfrm>
          <a:prstGeom prst="roundRect">
            <a:avLst>
              <a:gd name="adj" fmla="val 10811"/>
            </a:avLst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671BCC-5531-4620-923C-FED5DBE986BA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46B7F4-C5EF-4900-A8E6-BD044348F12A}"/>
              </a:ext>
            </a:extLst>
          </p:cNvPr>
          <p:cNvSpPr>
            <a:spLocks noGrp="1"/>
          </p:cNvSpPr>
          <p:nvPr/>
        </p:nvSpPr>
        <p:spPr>
          <a:xfrm>
            <a:off x="990600" y="49815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学习收获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D2F90-D459-4DF8-BDD4-5ADC180103A4}"/>
              </a:ext>
            </a:extLst>
          </p:cNvPr>
          <p:cNvSpPr>
            <a:spLocks noGrp="1"/>
          </p:cNvSpPr>
          <p:nvPr/>
        </p:nvSpPr>
        <p:spPr>
          <a:xfrm>
            <a:off x="2819400" y="47434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更规律、更直观、更个性化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5C95C0-A76B-46C7-BEF8-FCAF18FFF809}"/>
              </a:ext>
            </a:extLst>
          </p:cNvPr>
          <p:cNvSpPr>
            <a:spLocks noGrp="1"/>
          </p:cNvSpPr>
          <p:nvPr/>
        </p:nvSpPr>
        <p:spPr>
          <a:xfrm>
            <a:off x="5676900" y="4686300"/>
            <a:ext cx="4629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学生最终获得的是可反复使用的个人复习资产。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D022529-F34A-4794-B18D-1CF066B4C6F1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9906000" cy="552450"/>
          </a:xfrm>
          <a:prstGeom prst="roundRect">
            <a:avLst>
              <a:gd name="adj" fmla="val 13793"/>
            </a:avLst>
          </a:prstGeom>
          <a:solidFill>
            <a:srgbClr val="F6FA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2BB09-8158-4BB8-8E15-5C9AE40D8109}"/>
              </a:ext>
            </a:extLst>
          </p:cNvPr>
          <p:cNvSpPr>
            <a:spLocks noGrp="1"/>
          </p:cNvSpPr>
          <p:nvPr/>
        </p:nvSpPr>
        <p:spPr>
          <a:xfrm>
            <a:off x="1104900" y="573405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这一版的讲述重点：先让评委看到学生真的能复习，再解释飞书多维表如何把服务过程沉淀下来。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001F11E-1260-45D7-B55E-F7DFAFA5CB9B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43023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EBB1477-7708-4493-90B5-2108B566A6C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90 秒视频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CEAECE-691A-4426-A5F8-553321B680D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剪辑主线：结果先行，突出学生复习页和自动沉淀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0AE70A-C47F-439F-8B37-6071D34F24DF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D5B9E-9D18-4D2E-8873-BB478DAB07F0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742950" cy="2857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0-10s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462049-0500-4F33-8D01-3C5397470E6F}"/>
              </a:ext>
            </a:extLst>
          </p:cNvPr>
          <p:cNvSpPr>
            <a:spLocks noGrp="1"/>
          </p:cNvSpPr>
          <p:nvPr/>
        </p:nvSpPr>
        <p:spPr>
          <a:xfrm>
            <a:off x="1790700" y="20764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总览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02C5A5-2C8E-4E89-9ED2-FE9519140932}"/>
              </a:ext>
            </a:extLst>
          </p:cNvPr>
          <p:cNvSpPr>
            <a:spLocks noGrp="1"/>
          </p:cNvSpPr>
          <p:nvPr/>
        </p:nvSpPr>
        <p:spPr>
          <a:xfrm>
            <a:off x="933450" y="24955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原片 00:01-00:20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DD21CB-24D0-49EA-A564-2099070216C3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先扫一眼全部界面：老师端、学生页、助教检查、飞书底座。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89BD910-EAD8-43A9-8452-688FF37FC33B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031E0-49F7-4B8E-8814-156A09BE31AE}"/>
              </a:ext>
            </a:extLst>
          </p:cNvPr>
          <p:cNvSpPr>
            <a:spLocks noGrp="1"/>
          </p:cNvSpPr>
          <p:nvPr/>
        </p:nvSpPr>
        <p:spPr>
          <a:xfrm>
            <a:off x="4686300" y="2114550"/>
            <a:ext cx="742950" cy="285750"/>
          </a:xfrm>
          <a:prstGeom prst="rect">
            <a:avLst/>
          </a:prstGeom>
          <a:solidFill>
            <a:srgbClr val="FFBA55"/>
          </a:solidFill>
          <a:ln w="0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10-25s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D06E87-404A-407D-8A2E-76A99A4917C5}"/>
              </a:ext>
            </a:extLst>
          </p:cNvPr>
          <p:cNvSpPr>
            <a:spLocks noGrp="1"/>
          </p:cNvSpPr>
          <p:nvPr/>
        </p:nvSpPr>
        <p:spPr>
          <a:xfrm>
            <a:off x="5581650" y="20764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55187B-16E9-4838-A3A3-5BD82A5585FA}"/>
              </a:ext>
            </a:extLst>
          </p:cNvPr>
          <p:cNvSpPr>
            <a:spLocks noGrp="1"/>
          </p:cNvSpPr>
          <p:nvPr/>
        </p:nvSpPr>
        <p:spPr>
          <a:xfrm>
            <a:off x="4724400" y="24955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原片 01:24-02:13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2ADD39-82A1-4940-BD38-D464D9BCE8C3}"/>
              </a:ext>
            </a:extLst>
          </p:cNvPr>
          <p:cNvSpPr>
            <a:spLocks noGrp="1"/>
          </p:cNvSpPr>
          <p:nvPr/>
        </p:nvSpPr>
        <p:spPr>
          <a:xfrm>
            <a:off x="4724400" y="27432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上传课堂笔记，AI 解析出词汇、同义替换、方法、任务。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FD881D8-27E6-4E9F-A351-3088D9AB3B9F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1B2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004BEF-2F11-4B25-9A92-87BC7E20A6F9}"/>
              </a:ext>
            </a:extLst>
          </p:cNvPr>
          <p:cNvSpPr>
            <a:spLocks noGrp="1"/>
          </p:cNvSpPr>
          <p:nvPr/>
        </p:nvSpPr>
        <p:spPr>
          <a:xfrm>
            <a:off x="8477250" y="2114550"/>
            <a:ext cx="742950" cy="285750"/>
          </a:xfrm>
          <a:prstGeom prst="rect">
            <a:avLst/>
          </a:prstGeom>
          <a:solidFill>
            <a:srgbClr val="E31B23"/>
          </a:solidFill>
          <a:ln w="0">
            <a:solidFill>
              <a:srgbClr val="E31B2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25-38s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9F5E6E-E758-4126-B3E2-061E118DAD9D}"/>
              </a:ext>
            </a:extLst>
          </p:cNvPr>
          <p:cNvSpPr>
            <a:spLocks noGrp="1"/>
          </p:cNvSpPr>
          <p:nvPr/>
        </p:nvSpPr>
        <p:spPr>
          <a:xfrm>
            <a:off x="9372600" y="20764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45EE55-C4C4-47BE-8CE6-D3D46AE462E1}"/>
              </a:ext>
            </a:extLst>
          </p:cNvPr>
          <p:cNvSpPr>
            <a:spLocks noGrp="1"/>
          </p:cNvSpPr>
          <p:nvPr/>
        </p:nvSpPr>
        <p:spPr>
          <a:xfrm>
            <a:off x="8515350" y="24955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原片 02:53-03:28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4F353C-58AA-4F34-AA99-69B62BE9331E}"/>
              </a:ext>
            </a:extLst>
          </p:cNvPr>
          <p:cNvSpPr>
            <a:spLocks noGrp="1"/>
          </p:cNvSpPr>
          <p:nvPr/>
        </p:nvSpPr>
        <p:spPr>
          <a:xfrm>
            <a:off x="8515350" y="27432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老师过眼后确认写入，说明 AI 不直接交付给学生。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7990813-3785-4D8B-A63B-8BBDBCB4DE27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D91214-C82A-42F2-9671-73A12FA3EC49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742950" cy="2857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38-60s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CDA415-13B8-4F0C-B8C4-E9E7F4C81611}"/>
              </a:ext>
            </a:extLst>
          </p:cNvPr>
          <p:cNvSpPr>
            <a:spLocks noGrp="1"/>
          </p:cNvSpPr>
          <p:nvPr/>
        </p:nvSpPr>
        <p:spPr>
          <a:xfrm>
            <a:off x="1790700" y="37909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B9CBD5-0510-4F30-A3E0-F408EFA4A2FC}"/>
              </a:ext>
            </a:extLst>
          </p:cNvPr>
          <p:cNvSpPr>
            <a:spLocks noGrp="1"/>
          </p:cNvSpPr>
          <p:nvPr/>
        </p:nvSpPr>
        <p:spPr>
          <a:xfrm>
            <a:off x="933450" y="42100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6CA9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A95"/>
                </a:solidFill>
                <a:latin typeface="Arial"/>
                <a:ea typeface="Arial"/>
                <a:cs typeface="Arial"/>
              </a:rPr>
              <a:t>原片 03:28-04:35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F07D5D-BB53-4421-9244-E3007E96F974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复制链接并打开个人复习页，重点展示卡片式复习。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DEC1323-575C-4E1A-9F20-345C36B840A7}"/>
              </a:ext>
            </a:extLst>
          </p:cNvPr>
          <p:cNvSpPr>
            <a:spLocks noGrp="1"/>
          </p:cNvSpPr>
          <p:nvPr/>
        </p:nvSpPr>
        <p:spPr>
          <a:xfrm>
            <a:off x="4514850" y="36576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4835C6-2B06-4013-AF4A-055F941E30C7}"/>
              </a:ext>
            </a:extLst>
          </p:cNvPr>
          <p:cNvSpPr>
            <a:spLocks noGrp="1"/>
          </p:cNvSpPr>
          <p:nvPr/>
        </p:nvSpPr>
        <p:spPr>
          <a:xfrm>
            <a:off x="4686300" y="3829050"/>
            <a:ext cx="742950" cy="285750"/>
          </a:xfrm>
          <a:prstGeom prst="rect">
            <a:avLst/>
          </a:prstGeom>
          <a:solidFill>
            <a:srgbClr val="6096E6"/>
          </a:solidFill>
          <a:ln w="0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60-76s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2B0D3E-B103-45E3-B941-E2E02A12F093}"/>
              </a:ext>
            </a:extLst>
          </p:cNvPr>
          <p:cNvSpPr>
            <a:spLocks noGrp="1"/>
          </p:cNvSpPr>
          <p:nvPr/>
        </p:nvSpPr>
        <p:spPr>
          <a:xfrm>
            <a:off x="5581650" y="37909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多维表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E80BDC-9552-4612-AF2F-1D16466EB5C3}"/>
              </a:ext>
            </a:extLst>
          </p:cNvPr>
          <p:cNvSpPr>
            <a:spLocks noGrp="1"/>
          </p:cNvSpPr>
          <p:nvPr/>
        </p:nvSpPr>
        <p:spPr>
          <a:xfrm>
            <a:off x="4724400" y="42100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原片 04:45-05:23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ED3FEE-953A-4C87-AF61-59FBA76E389D}"/>
              </a:ext>
            </a:extLst>
          </p:cNvPr>
          <p:cNvSpPr>
            <a:spLocks noGrp="1"/>
          </p:cNvSpPr>
          <p:nvPr/>
        </p:nvSpPr>
        <p:spPr>
          <a:xfrm>
            <a:off x="4724400" y="44577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切到飞书总表，强调 student_id 自动沉淀、不是手动录入。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4DE93B5-56EB-44FA-B684-32F7F71787CA}"/>
              </a:ext>
            </a:extLst>
          </p:cNvPr>
          <p:cNvSpPr>
            <a:spLocks noGrp="1"/>
          </p:cNvSpPr>
          <p:nvPr/>
        </p:nvSpPr>
        <p:spPr>
          <a:xfrm>
            <a:off x="8305800" y="3657600"/>
            <a:ext cx="31623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D0BBCC-6E6E-45DC-9AE4-D29FD5C76123}"/>
              </a:ext>
            </a:extLst>
          </p:cNvPr>
          <p:cNvSpPr>
            <a:spLocks noGrp="1"/>
          </p:cNvSpPr>
          <p:nvPr/>
        </p:nvSpPr>
        <p:spPr>
          <a:xfrm>
            <a:off x="8477250" y="3829050"/>
            <a:ext cx="742950" cy="285750"/>
          </a:xfrm>
          <a:prstGeom prst="rect">
            <a:avLst/>
          </a:prstGeom>
          <a:solidFill>
            <a:srgbClr val="56CA95"/>
          </a:solidFill>
          <a:ln w="0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76-90s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DA5E20-95BA-46E4-A947-DC7B8B41181C}"/>
              </a:ext>
            </a:extLst>
          </p:cNvPr>
          <p:cNvSpPr>
            <a:spLocks noGrp="1"/>
          </p:cNvSpPr>
          <p:nvPr/>
        </p:nvSpPr>
        <p:spPr>
          <a:xfrm>
            <a:off x="9372600" y="37909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助教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0893B8-89E1-401F-B57B-C1F06ACA931A}"/>
              </a:ext>
            </a:extLst>
          </p:cNvPr>
          <p:cNvSpPr>
            <a:spLocks noGrp="1"/>
          </p:cNvSpPr>
          <p:nvPr/>
        </p:nvSpPr>
        <p:spPr>
          <a:xfrm>
            <a:off x="8515350" y="421005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6CA9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A95"/>
                </a:solidFill>
                <a:latin typeface="Arial"/>
                <a:ea typeface="Arial"/>
                <a:cs typeface="Arial"/>
              </a:rPr>
              <a:t>原片 07:10-07:35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61C145-D272-4E40-B025-22446CCB6C44}"/>
              </a:ext>
            </a:extLst>
          </p:cNvPr>
          <p:cNvSpPr>
            <a:spLocks noGrp="1"/>
          </p:cNvSpPr>
          <p:nvPr/>
        </p:nvSpPr>
        <p:spPr>
          <a:xfrm>
            <a:off x="8515350" y="4457700"/>
            <a:ext cx="2724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展示助教检查页：课后跟进从模糊口头交接变成可检查项。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792E291-F17B-4A10-8DB6-13B4F6BB9332}"/>
              </a:ext>
            </a:extLst>
          </p:cNvPr>
          <p:cNvSpPr>
            <a:spLocks noGrp="1"/>
          </p:cNvSpPr>
          <p:nvPr/>
        </p:nvSpPr>
        <p:spPr>
          <a:xfrm>
            <a:off x="1257300" y="5448300"/>
            <a:ext cx="8724900" cy="552450"/>
          </a:xfrm>
          <a:prstGeom prst="roundRect">
            <a:avLst>
              <a:gd name="adj" fmla="val 13793"/>
            </a:avLst>
          </a:prstGeom>
          <a:solidFill>
            <a:srgbClr val="FFF8EB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858851-360A-40E5-B432-148AD298B64B}"/>
              </a:ext>
            </a:extLst>
          </p:cNvPr>
          <p:cNvSpPr>
            <a:spLocks noGrp="1"/>
          </p:cNvSpPr>
          <p:nvPr/>
        </p:nvSpPr>
        <p:spPr>
          <a:xfrm>
            <a:off x="1524000" y="560070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剪辑原则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4B96269-2BD2-4186-BAC2-E53483AA8D54}"/>
              </a:ext>
            </a:extLst>
          </p:cNvPr>
          <p:cNvSpPr>
            <a:spLocks noGrp="1"/>
          </p:cNvSpPr>
          <p:nvPr/>
        </p:nvSpPr>
        <p:spPr>
          <a:xfrm>
            <a:off x="2476500" y="5562600"/>
            <a:ext cx="7143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90 秒够用，但要“结果先行”：学生页出现两次，生成过程只保留关键跳剪。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58116E7-2F8B-4CE6-B0B5-6482BD6D248E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07758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755A3A-173C-462D-8136-85EB099920C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质量守门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5C663C-AB15-4578-A688-9C1939C3C75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生成后质检：服务质量保障，不是额外后台</a:t>
            </a:r>
            <a:endParaRPr sz="255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E2C260A-78A5-4A04-9016-6E26F60BFFEB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8770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1963956"/>
            <a:ext cx="6800850" cy="363493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F142772-6D5F-4BF5-9061-C18587B1EEBE}"/>
              </a:ext>
            </a:extLst>
          </p:cNvPr>
          <p:cNvSpPr>
            <a:spLocks noGrp="1"/>
          </p:cNvSpPr>
          <p:nvPr/>
        </p:nvSpPr>
        <p:spPr>
          <a:xfrm>
            <a:off x="971550" y="5715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原始质检弹窗截图：5 维评估 + 处理结论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704D92-DF2C-4B75-9E12-18D609AF6D41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2895600" cy="1409700"/>
          </a:xfrm>
          <a:prstGeom prst="roundRect">
            <a:avLst>
              <a:gd name="adj" fmla="val 5405"/>
            </a:avLst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3FB346-38D8-442B-A417-AF99E5EBE131}"/>
              </a:ext>
            </a:extLst>
          </p:cNvPr>
          <p:cNvSpPr>
            <a:spLocks noGrp="1"/>
          </p:cNvSpPr>
          <p:nvPr/>
        </p:nvSpPr>
        <p:spPr>
          <a:xfrm>
            <a:off x="8153400" y="2190750"/>
            <a:ext cx="1143000" cy="285750"/>
          </a:xfrm>
          <a:prstGeom prst="rect">
            <a:avLst/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看这里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5AF350-B653-4588-9B50-08A1BB6761DE}"/>
              </a:ext>
            </a:extLst>
          </p:cNvPr>
          <p:cNvSpPr>
            <a:spLocks noGrp="1"/>
          </p:cNvSpPr>
          <p:nvPr/>
        </p:nvSpPr>
        <p:spPr>
          <a:xfrm>
            <a:off x="8172450" y="2628900"/>
            <a:ext cx="2228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AI 内容进入学生页 / 助教页前，</a:t>
            </a:r>
          </a:p>
          <a:p>
            <a:pPr algn="l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必须经过老师确认。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00790AB-165F-4D00-AAEE-549C37155E29}"/>
              </a:ext>
            </a:extLst>
          </p:cNvPr>
          <p:cNvSpPr>
            <a:spLocks noGrp="1"/>
          </p:cNvSpPr>
          <p:nvPr/>
        </p:nvSpPr>
        <p:spPr>
          <a:xfrm>
            <a:off x="7886700" y="3562350"/>
            <a:ext cx="2895600" cy="1295400"/>
          </a:xfrm>
          <a:prstGeom prst="roundRect">
            <a:avLst>
              <a:gd name="adj" fmla="val 5882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82FBB2-9C73-4805-90F5-7572081746D4}"/>
              </a:ext>
            </a:extLst>
          </p:cNvPr>
          <p:cNvSpPr>
            <a:spLocks noGrp="1"/>
          </p:cNvSpPr>
          <p:nvPr/>
        </p:nvSpPr>
        <p:spPr>
          <a:xfrm>
            <a:off x="8172450" y="37528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5 </a:t>
            </a:r>
            <a:r>
              <a:rPr sz="1800" b="1" dirty="0" err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维确认</a:t>
            </a:r>
            <a:endParaRPr sz="1800" b="1" dirty="0">
              <a:solidFill>
                <a:srgbClr val="56CA9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1F44D5-BF67-4C0B-BF46-1FC39240BFF3}"/>
              </a:ext>
            </a:extLst>
          </p:cNvPr>
          <p:cNvSpPr>
            <a:spLocks noGrp="1"/>
          </p:cNvSpPr>
          <p:nvPr/>
        </p:nvSpPr>
        <p:spPr>
          <a:xfrm>
            <a:off x="8172450" y="4171950"/>
            <a:ext cx="2228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忠实度</a:t>
            </a:r>
            <a:r>
              <a:rPr sz="135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具体性</a:t>
            </a:r>
            <a:endParaRPr sz="135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用户适配</a:t>
            </a:r>
            <a:r>
              <a:rPr sz="135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行动明确</a:t>
            </a:r>
            <a:endParaRPr sz="135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风险标记</a:t>
            </a:r>
            <a:r>
              <a:rPr sz="135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35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处理结论</a:t>
            </a:r>
            <a:endParaRPr sz="135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257962E-E8FB-418A-AFC4-437CB7921E69}"/>
              </a:ext>
            </a:extLst>
          </p:cNvPr>
          <p:cNvSpPr>
            <a:spLocks noGrp="1"/>
          </p:cNvSpPr>
          <p:nvPr/>
        </p:nvSpPr>
        <p:spPr>
          <a:xfrm>
            <a:off x="7886700" y="5067300"/>
            <a:ext cx="2895600" cy="819150"/>
          </a:xfrm>
          <a:prstGeom prst="roundRect">
            <a:avLst>
              <a:gd name="adj" fmla="val 9302"/>
            </a:avLst>
          </a:prstGeom>
          <a:solidFill>
            <a:srgbClr val="FFF8EB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CD1C5E-F034-46D6-8680-F4F7BC9E0D38}"/>
              </a:ext>
            </a:extLst>
          </p:cNvPr>
          <p:cNvSpPr>
            <a:spLocks noGrp="1"/>
          </p:cNvSpPr>
          <p:nvPr/>
        </p:nvSpPr>
        <p:spPr>
          <a:xfrm>
            <a:off x="8172450" y="52006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证明点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A2ABF2-34DD-40E0-9294-4FD19FE44A7F}"/>
              </a:ext>
            </a:extLst>
          </p:cNvPr>
          <p:cNvSpPr>
            <a:spLocks noGrp="1"/>
          </p:cNvSpPr>
          <p:nvPr/>
        </p:nvSpPr>
        <p:spPr>
          <a:xfrm>
            <a:off x="8896350" y="5124450"/>
            <a:ext cx="16002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质检不是额外负担，而是</a:t>
            </a:r>
            <a:r>
              <a:rPr sz="975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975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输出进入业务前的服务质量保障。小样本不夸大，但证据层次已铺开</a:t>
            </a:r>
            <a:r>
              <a:rPr sz="975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AA9A4B-88CE-4DD1-B9EE-7FCDDFF73DA1}"/>
              </a:ext>
            </a:extLst>
          </p:cNvPr>
          <p:cNvSpPr>
            <a:spLocks noGrp="1"/>
          </p:cNvSpPr>
          <p:nvPr/>
        </p:nvSpPr>
        <p:spPr>
          <a:xfrm>
            <a:off x="1066800" y="5962650"/>
            <a:ext cx="57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F35103-B36D-4E7F-8F68-C0AA03BE143D}"/>
              </a:ext>
            </a:extLst>
          </p:cNvPr>
          <p:cNvSpPr>
            <a:spLocks noGrp="1"/>
          </p:cNvSpPr>
          <p:nvPr/>
        </p:nvSpPr>
        <p:spPr>
          <a:xfrm>
            <a:off x="1676400" y="59436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方法卡 / 上游教学知识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1CBF4F-FBEE-44D6-87ED-357E9F4BF0AD}"/>
              </a:ext>
            </a:extLst>
          </p:cNvPr>
          <p:cNvSpPr>
            <a:spLocks noGrp="1"/>
          </p:cNvSpPr>
          <p:nvPr/>
        </p:nvSpPr>
        <p:spPr>
          <a:xfrm>
            <a:off x="3162300" y="5962650"/>
            <a:ext cx="57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56CA9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CA9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6C2133-22F7-4775-8FEC-7010795DCC01}"/>
              </a:ext>
            </a:extLst>
          </p:cNvPr>
          <p:cNvSpPr>
            <a:spLocks noGrp="1"/>
          </p:cNvSpPr>
          <p:nvPr/>
        </p:nvSpPr>
        <p:spPr>
          <a:xfrm>
            <a:off x="3771900" y="59436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真实学生服务记录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56E9B0-31F1-4ECB-8D65-0F307D81316A}"/>
              </a:ext>
            </a:extLst>
          </p:cNvPr>
          <p:cNvSpPr>
            <a:spLocks noGrp="1"/>
          </p:cNvSpPr>
          <p:nvPr/>
        </p:nvSpPr>
        <p:spPr>
          <a:xfrm>
            <a:off x="5257800" y="5962650"/>
            <a:ext cx="57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90BEFB-461B-4811-84BB-AA0D2167A1F4}"/>
              </a:ext>
            </a:extLst>
          </p:cNvPr>
          <p:cNvSpPr>
            <a:spLocks noGrp="1"/>
          </p:cNvSpPr>
          <p:nvPr/>
        </p:nvSpPr>
        <p:spPr>
          <a:xfrm>
            <a:off x="5867400" y="59436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Project B 课堂样本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3F653A-B8ED-4E27-BFF9-E3B0EE75EEB2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3583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65250E3-63C8-40E4-916E-886DEDB1C2F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飞书入库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93E34C-9693-427A-BDE4-F933B2234E37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真实截图拆开看：一份数据，三种服务视图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9FEE986-B42F-434D-ACA5-890E4ED8B561}"/>
              </a:ext>
            </a:extLst>
          </p:cNvPr>
          <p:cNvSpPr>
            <a:spLocks noGrp="1"/>
          </p:cNvSpPr>
          <p:nvPr/>
        </p:nvSpPr>
        <p:spPr>
          <a:xfrm>
            <a:off x="647700" y="1962150"/>
            <a:ext cx="62674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3775" b="3775"/>
          <a:stretch>
            <a:fillRect/>
          </a:stretch>
        </p:blipFill>
        <p:spPr>
          <a:xfrm>
            <a:off x="685800" y="2000250"/>
            <a:ext cx="6191250" cy="24003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84FA0F8-ABBE-4F43-886A-5149DBD6979F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1676400" cy="26670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真实飞书多维表格截图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C642EF-132C-4198-B329-30021CE9495B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542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数据底座：学生 ID、上课日期、科目、类型、核心内容、例句和复习状态落在同一张表。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8DE5A5A-0004-4CB5-9D73-2F734DE0E175}"/>
              </a:ext>
            </a:extLst>
          </p:cNvPr>
          <p:cNvSpPr>
            <a:spLocks noGrp="1"/>
          </p:cNvSpPr>
          <p:nvPr/>
        </p:nvSpPr>
        <p:spPr>
          <a:xfrm>
            <a:off x="7219950" y="1962150"/>
            <a:ext cx="35814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t="20794" b="20794"/>
          <a:stretch>
            <a:fillRect/>
          </a:stretch>
        </p:blipFill>
        <p:spPr>
          <a:xfrm>
            <a:off x="7258050" y="2000250"/>
            <a:ext cx="3505200" cy="16002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8C1C8FC-B0E1-4ADD-810B-5C155735BDB0}"/>
              </a:ext>
            </a:extLst>
          </p:cNvPr>
          <p:cNvSpPr>
            <a:spLocks noGrp="1"/>
          </p:cNvSpPr>
          <p:nvPr/>
        </p:nvSpPr>
        <p:spPr>
          <a:xfrm>
            <a:off x="7429500" y="1513742"/>
            <a:ext cx="1524000" cy="266700"/>
          </a:xfrm>
          <a:prstGeom prst="rect">
            <a:avLst/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学生个人复习页截图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0CBA12-718A-4663-8743-35177686AB7F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学生看到的是自己的复习卡片，不是老师的原始笔记。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3E8B301-1668-4FED-84B2-331B9C2BB33C}"/>
              </a:ext>
            </a:extLst>
          </p:cNvPr>
          <p:cNvSpPr>
            <a:spLocks noGrp="1"/>
          </p:cNvSpPr>
          <p:nvPr/>
        </p:nvSpPr>
        <p:spPr>
          <a:xfrm>
            <a:off x="7219950" y="4133850"/>
            <a:ext cx="35814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rcRect t="18044" b="18044"/>
          <a:stretch>
            <a:fillRect/>
          </a:stretch>
        </p:blipFill>
        <p:spPr>
          <a:xfrm>
            <a:off x="7258050" y="4171950"/>
            <a:ext cx="3505200" cy="14287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0803B48-B647-4766-9B4C-D6B2D1819381}"/>
              </a:ext>
            </a:extLst>
          </p:cNvPr>
          <p:cNvSpPr>
            <a:spLocks noGrp="1"/>
          </p:cNvSpPr>
          <p:nvPr/>
        </p:nvSpPr>
        <p:spPr>
          <a:xfrm>
            <a:off x="7124700" y="5476875"/>
            <a:ext cx="1524000" cy="266700"/>
          </a:xfrm>
          <a:prstGeom prst="rect">
            <a:avLst/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 dirty="0" err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助教检查页真实截图</a:t>
            </a:r>
            <a:endParaRPr sz="1125" b="1" dirty="0">
              <a:solidFill>
                <a:srgbClr val="FFBA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4E6762-ED50-4379-8B45-4812174EAB6F}"/>
              </a:ext>
            </a:extLst>
          </p:cNvPr>
          <p:cNvSpPr>
            <a:spLocks noGrp="1"/>
          </p:cNvSpPr>
          <p:nvPr/>
        </p:nvSpPr>
        <p:spPr>
          <a:xfrm>
            <a:off x="7429500" y="569595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助教只看少量可执行检查项：作业是否完成、核心单词是否掌握。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A764A0E-D9F6-4F4F-9034-D02C0C23784E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5429250" cy="514350"/>
          </a:xfrm>
          <a:prstGeom prst="roundRect">
            <a:avLst>
              <a:gd name="adj" fmla="val 14815"/>
            </a:avLst>
          </a:prstGeom>
          <a:solidFill>
            <a:srgbClr val="F8FB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23836A-49DD-4DFE-B65A-FFBA82E71DE0}"/>
              </a:ext>
            </a:extLst>
          </p:cNvPr>
          <p:cNvSpPr>
            <a:spLocks noGrp="1"/>
          </p:cNvSpPr>
          <p:nvPr/>
        </p:nvSpPr>
        <p:spPr>
          <a:xfrm>
            <a:off x="1047750" y="5295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复制性主线不是“截图漂亮”，而是飞书字段、学生页面和助教检查 SOP 可以被其他班级复用。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60355C-FE61-4AAB-9DAE-89B02257BAD3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167108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7967AD-901F-466E-9A91-2BCE1126C53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数据厚度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9B584A-7920-4CC0-83C8-BE45F1DC54F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小样本不夸大，但数据底座已经有厚度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AC9204A-CD7D-4672-80CC-82ABBE7BC50C}"/>
              </a:ext>
            </a:extLst>
          </p:cNvPr>
          <p:cNvSpPr>
            <a:spLocks noGrp="1"/>
          </p:cNvSpPr>
          <p:nvPr/>
        </p:nvSpPr>
        <p:spPr>
          <a:xfrm>
            <a:off x="647700" y="2019300"/>
            <a:ext cx="6648450" cy="280035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t="580" b="580"/>
          <a:stretch>
            <a:fillRect/>
          </a:stretch>
        </p:blipFill>
        <p:spPr>
          <a:xfrm>
            <a:off x="685800" y="2057400"/>
            <a:ext cx="6572250" cy="27241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B75A68-2017-4D87-B191-9DB61E7C5605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1409700" cy="26670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真实飞书表格截图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9EF880-548A-4739-BDD8-333861416363}"/>
              </a:ext>
            </a:extLst>
          </p:cNvPr>
          <p:cNvSpPr>
            <a:spLocks noGrp="1"/>
          </p:cNvSpPr>
          <p:nvPr/>
        </p:nvSpPr>
        <p:spPr>
          <a:xfrm>
            <a:off x="952500" y="4914900"/>
            <a:ext cx="5448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这里不再用示意表格。左侧直接展示多维表里的真实字段、标签和记录沉淀。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9FC6B45-6878-4574-A756-20AA932DC8F7}"/>
              </a:ext>
            </a:extLst>
          </p:cNvPr>
          <p:cNvSpPr>
            <a:spLocks noGrp="1"/>
          </p:cNvSpPr>
          <p:nvPr/>
        </p:nvSpPr>
        <p:spPr>
          <a:xfrm>
            <a:off x="7620000" y="2057400"/>
            <a:ext cx="1714500" cy="1123950"/>
          </a:xfrm>
          <a:prstGeom prst="roundRect">
            <a:avLst>
              <a:gd name="adj" fmla="val 6780"/>
            </a:avLst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B43445-2282-4510-BD17-D5CF20A052FA}"/>
              </a:ext>
            </a:extLst>
          </p:cNvPr>
          <p:cNvSpPr>
            <a:spLocks noGrp="1"/>
          </p:cNvSpPr>
          <p:nvPr/>
        </p:nvSpPr>
        <p:spPr>
          <a:xfrm>
            <a:off x="7791450" y="220980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242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62B03F-02FA-452A-95E1-933970EAF568}"/>
              </a:ext>
            </a:extLst>
          </p:cNvPr>
          <p:cNvSpPr>
            <a:spLocks noGrp="1"/>
          </p:cNvSpPr>
          <p:nvPr/>
        </p:nvSpPr>
        <p:spPr>
          <a:xfrm>
            <a:off x="7791450" y="26289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飞书表格记录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54F5B6-D275-40D7-B976-1229C1A47F34}"/>
              </a:ext>
            </a:extLst>
          </p:cNvPr>
          <p:cNvSpPr>
            <a:spLocks noGrp="1"/>
          </p:cNvSpPr>
          <p:nvPr/>
        </p:nvSpPr>
        <p:spPr>
          <a:xfrm>
            <a:off x="7791450" y="28575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截图内可见记录规模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5C53513-4C11-4B19-BE4D-086403CADA97}"/>
              </a:ext>
            </a:extLst>
          </p:cNvPr>
          <p:cNvSpPr>
            <a:spLocks noGrp="1"/>
          </p:cNvSpPr>
          <p:nvPr/>
        </p:nvSpPr>
        <p:spPr>
          <a:xfrm>
            <a:off x="9525000" y="2057400"/>
            <a:ext cx="1714500" cy="1123950"/>
          </a:xfrm>
          <a:prstGeom prst="roundRect">
            <a:avLst>
              <a:gd name="adj" fmla="val 6780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D7FDBE-FB97-45F0-A8A1-37CA6319AE4F}"/>
              </a:ext>
            </a:extLst>
          </p:cNvPr>
          <p:cNvSpPr>
            <a:spLocks noGrp="1"/>
          </p:cNvSpPr>
          <p:nvPr/>
        </p:nvSpPr>
        <p:spPr>
          <a:xfrm>
            <a:off x="9696450" y="220980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56CA9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A9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976E74-2605-4218-AFA4-EDD01E843F0C}"/>
              </a:ext>
            </a:extLst>
          </p:cNvPr>
          <p:cNvSpPr>
            <a:spLocks noGrp="1"/>
          </p:cNvSpPr>
          <p:nvPr/>
        </p:nvSpPr>
        <p:spPr>
          <a:xfrm>
            <a:off x="9696450" y="26289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方法卡</a:t>
            </a:r>
            <a:r>
              <a:rPr sz="105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上游知识</a:t>
            </a:r>
            <a:endParaRPr sz="105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38A39A-306D-460B-A376-27624A6509D5}"/>
              </a:ext>
            </a:extLst>
          </p:cNvPr>
          <p:cNvSpPr>
            <a:spLocks noGrp="1"/>
          </p:cNvSpPr>
          <p:nvPr/>
        </p:nvSpPr>
        <p:spPr>
          <a:xfrm>
            <a:off x="9696450" y="28575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来自教学知识沉淀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0B9C8FC-5898-43DC-AAA3-5FD55D5BFE28}"/>
              </a:ext>
            </a:extLst>
          </p:cNvPr>
          <p:cNvSpPr>
            <a:spLocks noGrp="1"/>
          </p:cNvSpPr>
          <p:nvPr/>
        </p:nvSpPr>
        <p:spPr>
          <a:xfrm>
            <a:off x="7620000" y="3429000"/>
            <a:ext cx="1714500" cy="1123950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497631-EC5B-43CC-AE77-99AE1BA64C23}"/>
              </a:ext>
            </a:extLst>
          </p:cNvPr>
          <p:cNvSpPr>
            <a:spLocks noGrp="1"/>
          </p:cNvSpPr>
          <p:nvPr/>
        </p:nvSpPr>
        <p:spPr>
          <a:xfrm>
            <a:off x="7791450" y="358140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E73392-351A-4A69-AFB0-D883A2C435C5}"/>
              </a:ext>
            </a:extLst>
          </p:cNvPr>
          <p:cNvSpPr>
            <a:spLocks noGrp="1"/>
          </p:cNvSpPr>
          <p:nvPr/>
        </p:nvSpPr>
        <p:spPr>
          <a:xfrm>
            <a:off x="7791450" y="40005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真实学生服务记录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2FC1F4-99F7-436E-AD8D-DAEB869449D0}"/>
              </a:ext>
            </a:extLst>
          </p:cNvPr>
          <p:cNvSpPr>
            <a:spLocks noGrp="1"/>
          </p:cNvSpPr>
          <p:nvPr/>
        </p:nvSpPr>
        <p:spPr>
          <a:xfrm>
            <a:off x="7791450" y="42291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已有服务字段样本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273AEA8-F4F0-4811-9A1D-5F19084380A5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1714500" cy="1123950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9525">
            <a:solidFill>
              <a:srgbClr val="E31B23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53EAAB-4DE9-4EEA-B9D8-BBFD9BE076C5}"/>
              </a:ext>
            </a:extLst>
          </p:cNvPr>
          <p:cNvSpPr>
            <a:spLocks noGrp="1"/>
          </p:cNvSpPr>
          <p:nvPr/>
        </p:nvSpPr>
        <p:spPr>
          <a:xfrm>
            <a:off x="9696450" y="358140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B5A4D6-4804-42A7-A02B-7B1EE24A0BEE}"/>
              </a:ext>
            </a:extLst>
          </p:cNvPr>
          <p:cNvSpPr>
            <a:spLocks noGrp="1"/>
          </p:cNvSpPr>
          <p:nvPr/>
        </p:nvSpPr>
        <p:spPr>
          <a:xfrm>
            <a:off x="9696450" y="40005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Project B </a:t>
            </a:r>
            <a:r>
              <a:rPr sz="105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课堂样本</a:t>
            </a:r>
            <a:endParaRPr sz="105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F40106-E5BA-4CA3-B7BE-CE7FDE9C5B3F}"/>
              </a:ext>
            </a:extLst>
          </p:cNvPr>
          <p:cNvSpPr>
            <a:spLocks noGrp="1"/>
          </p:cNvSpPr>
          <p:nvPr/>
        </p:nvSpPr>
        <p:spPr>
          <a:xfrm>
            <a:off x="9696450" y="42291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M2 路演证据口径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24AB10-1F9C-4783-BF77-27C8F248363F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185411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6C3CE18-074C-4EF0-87AB-394F297C7FB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老师反馈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921CA6-798E-4528-B8D6-F9B39D7B726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真实课堂反馈：课后追问推动功能收敛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D3FBE89-0ACB-406E-8A01-C6E838DDAE85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7056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360" r="360"/>
          <a:stretch>
            <a:fillRect/>
          </a:stretch>
        </p:blipFill>
        <p:spPr>
          <a:xfrm>
            <a:off x="685800" y="1924050"/>
            <a:ext cx="6629400" cy="21145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F0B2B46-E96B-43CF-821C-4BD170ABB540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3105150" cy="26670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 err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原始老师反馈：孩子状态</a:t>
            </a:r>
            <a:r>
              <a:rPr sz="1050" b="1" dirty="0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 b="1" dirty="0" err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加强点</a:t>
            </a:r>
            <a:r>
              <a:rPr sz="1050" b="1" dirty="0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 b="1" dirty="0" err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作业与知识点检查</a:t>
            </a:r>
            <a:endParaRPr sz="1050" b="1" dirty="0">
              <a:solidFill>
                <a:srgbClr val="6096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DCADC2D-1375-476B-886F-3006B47B5D67}"/>
              </a:ext>
            </a:extLst>
          </p:cNvPr>
          <p:cNvSpPr>
            <a:spLocks noGrp="1"/>
          </p:cNvSpPr>
          <p:nvPr/>
        </p:nvSpPr>
        <p:spPr>
          <a:xfrm>
            <a:off x="647700" y="4419600"/>
            <a:ext cx="32385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t="24765" b="24765"/>
          <a:stretch>
            <a:fillRect/>
          </a:stretch>
        </p:blipFill>
        <p:spPr>
          <a:xfrm>
            <a:off x="685800" y="4457700"/>
            <a:ext cx="3162300" cy="12192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BD13F9A-9206-4CB8-9875-816498C6A727}"/>
              </a:ext>
            </a:extLst>
          </p:cNvPr>
          <p:cNvSpPr>
            <a:spLocks noGrp="1"/>
          </p:cNvSpPr>
          <p:nvPr/>
        </p:nvSpPr>
        <p:spPr>
          <a:xfrm>
            <a:off x="685800" y="5861538"/>
            <a:ext cx="2038350" cy="266700"/>
          </a:xfrm>
          <a:prstGeom prst="rect">
            <a:avLst/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笔记上传 -&gt; AI 加工 -&gt; 学生复习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0AFAFE6-451A-47AA-8681-834B0F78F394}"/>
              </a:ext>
            </a:extLst>
          </p:cNvPr>
          <p:cNvSpPr>
            <a:spLocks noGrp="1"/>
          </p:cNvSpPr>
          <p:nvPr/>
        </p:nvSpPr>
        <p:spPr>
          <a:xfrm>
            <a:off x="4076700" y="4419600"/>
            <a:ext cx="3276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t="2381" b="2381"/>
          <a:stretch>
            <a:fillRect/>
          </a:stretch>
        </p:blipFill>
        <p:spPr>
          <a:xfrm>
            <a:off x="4114800" y="4457700"/>
            <a:ext cx="3200400" cy="12192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DA342A1-87F1-44B9-90C7-17D7FEFF55CE}"/>
              </a:ext>
            </a:extLst>
          </p:cNvPr>
          <p:cNvSpPr>
            <a:spLocks noGrp="1"/>
          </p:cNvSpPr>
          <p:nvPr/>
        </p:nvSpPr>
        <p:spPr>
          <a:xfrm>
            <a:off x="4076700" y="5861538"/>
            <a:ext cx="1962150" cy="266700"/>
          </a:xfrm>
          <a:prstGeom prst="rect">
            <a:avLst/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 dirty="0" err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复习卡：老师和助教连接学生</a:t>
            </a:r>
            <a:endParaRPr sz="1050" b="1" dirty="0">
              <a:solidFill>
                <a:srgbClr val="FFBA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16FCDEC-9738-42E6-98B4-76B105756C1A}"/>
              </a:ext>
            </a:extLst>
          </p:cNvPr>
          <p:cNvSpPr>
            <a:spLocks noGrp="1"/>
          </p:cNvSpPr>
          <p:nvPr/>
        </p:nvSpPr>
        <p:spPr>
          <a:xfrm>
            <a:off x="7810500" y="2038350"/>
            <a:ext cx="2990850" cy="85725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7F0527-011D-4CE9-A412-C4416310E40B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孩子状态要可回答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270112-9E6D-42AC-B2D8-C7CAE6EDD0DA}"/>
              </a:ext>
            </a:extLst>
          </p:cNvPr>
          <p:cNvSpPr>
            <a:spLocks noGrp="1"/>
          </p:cNvSpPr>
          <p:nvPr/>
        </p:nvSpPr>
        <p:spPr>
          <a:xfrm>
            <a:off x="8001000" y="24765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家长会追问课后状态，老师需要清楚说出下一步。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880E606-C5F0-4DB5-BFAC-CEF692F50FC5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990850" cy="857250"/>
          </a:xfrm>
          <a:prstGeom prst="roundRect">
            <a:avLst>
              <a:gd name="adj" fmla="val 8889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B43AE9-1D56-4047-9932-89FAA0FB369A}"/>
              </a:ext>
            </a:extLst>
          </p:cNvPr>
          <p:cNvSpPr>
            <a:spLocks noGrp="1"/>
          </p:cNvSpPr>
          <p:nvPr/>
        </p:nvSpPr>
        <p:spPr>
          <a:xfrm>
            <a:off x="8001000" y="32575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内容要转成复习框架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82F67C-B32A-46E2-BFF6-27FA0ED7A484}"/>
              </a:ext>
            </a:extLst>
          </p:cNvPr>
          <p:cNvSpPr>
            <a:spLocks noGrp="1"/>
          </p:cNvSpPr>
          <p:nvPr/>
        </p:nvSpPr>
        <p:spPr>
          <a:xfrm>
            <a:off x="8001000" y="35433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原始笔记不能只停在聊天里，要变成学生可反复看的卡片。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C7FE1D4-5522-43E7-AC57-1138E6674B55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2990850" cy="857250"/>
          </a:xfrm>
          <a:prstGeom prst="roundRect">
            <a:avLst>
              <a:gd name="adj" fmla="val 8889"/>
            </a:avLst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D9B01D-A74F-4CE2-9F66-A73BCE4275CE}"/>
              </a:ext>
            </a:extLst>
          </p:cNvPr>
          <p:cNvSpPr>
            <a:spLocks noGrp="1"/>
          </p:cNvSpPr>
          <p:nvPr/>
        </p:nvSpPr>
        <p:spPr>
          <a:xfrm>
            <a:off x="8001000" y="43243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检查要落到动作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FD03D5-E5E6-4A77-B46B-990032B0483A}"/>
              </a:ext>
            </a:extLst>
          </p:cNvPr>
          <p:cNvSpPr>
            <a:spLocks noGrp="1"/>
          </p:cNvSpPr>
          <p:nvPr/>
        </p:nvSpPr>
        <p:spPr>
          <a:xfrm>
            <a:off x="8001000" y="46101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作业、知识点和后续加强点，需要被助教接住。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AB283DD-E223-4A47-9237-FF996DB7D8EC}"/>
              </a:ext>
            </a:extLst>
          </p:cNvPr>
          <p:cNvSpPr>
            <a:spLocks noGrp="1"/>
          </p:cNvSpPr>
          <p:nvPr/>
        </p:nvSpPr>
        <p:spPr>
          <a:xfrm>
            <a:off x="7810500" y="5295900"/>
            <a:ext cx="2990850" cy="552450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4A160A-78B1-423C-9C93-C479E78639D5}"/>
              </a:ext>
            </a:extLst>
          </p:cNvPr>
          <p:cNvSpPr>
            <a:spLocks noGrp="1"/>
          </p:cNvSpPr>
          <p:nvPr/>
        </p:nvSpPr>
        <p:spPr>
          <a:xfrm>
            <a:off x="8001000" y="53721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证明点：这页只讲真实老师反馈如何推动“确认、复习、检查”三段链路。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7FCD52-64CA-4469-83E6-04F175508F1C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1833072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3A9312-124E-4A54-BC55-9F665330BC1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助教反馈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8E3207-E745-4A68-A104-D898D01DBEF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真实助教反馈：检查页收敛为两个核心动作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36C567C-1EDC-47FE-BFD6-FAD4983E7C94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9339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044229"/>
            <a:ext cx="4857750" cy="290289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1E4753B-8B1D-4269-AE48-1795294703B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3124200" cy="266700"/>
          </a:xfrm>
          <a:prstGeom prst="rect">
            <a:avLst/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原始助教反馈：学生检查要更清楚，也要控制工作量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0B7DA61-7F0B-4DBB-BA15-83356F3094F3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47053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00750" y="2019506"/>
            <a:ext cx="4629150" cy="29523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F7AFDE5-5E6A-4020-A06F-F562B5CC7964}"/>
              </a:ext>
            </a:extLst>
          </p:cNvPr>
          <p:cNvSpPr>
            <a:spLocks noGrp="1"/>
          </p:cNvSpPr>
          <p:nvPr/>
        </p:nvSpPr>
        <p:spPr>
          <a:xfrm>
            <a:off x="6229350" y="2114550"/>
            <a:ext cx="2190750" cy="26670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落成页面截图：两个核心检查项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131BA9A-A70D-4544-9197-3F8DB83013CE}"/>
              </a:ext>
            </a:extLst>
          </p:cNvPr>
          <p:cNvSpPr>
            <a:spLocks noGrp="1"/>
          </p:cNvSpPr>
          <p:nvPr/>
        </p:nvSpPr>
        <p:spPr>
          <a:xfrm>
            <a:off x="990600" y="5353050"/>
            <a:ext cx="9144000" cy="514350"/>
          </a:xfrm>
          <a:prstGeom prst="roundRect">
            <a:avLst>
              <a:gd name="adj" fmla="val 14815"/>
            </a:avLst>
          </a:prstGeom>
          <a:solidFill>
            <a:srgbClr val="FFF8EB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73756A-A2F9-4F13-B3A8-C610D79C24FB}"/>
              </a:ext>
            </a:extLst>
          </p:cNvPr>
          <p:cNvSpPr>
            <a:spLocks noGrp="1"/>
          </p:cNvSpPr>
          <p:nvPr/>
        </p:nvSpPr>
        <p:spPr>
          <a:xfrm>
            <a:off x="1200150" y="54483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证明点：反馈原话提出“检查更清楚、控制工作量”，页面最终只保留作业完成和单词掌握两个动作。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787E59-EDED-4DEF-89C1-0539895B04A4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38451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B78EF68-A235-40F9-B336-17B70D05D56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顾问反馈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C9D3DC-F95F-46B6-BED8-C5B46EE89C7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真实顾问反馈：家长价值和续费动作要说清楚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9736ED4-8557-4635-8075-268DA84EC7E0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6484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41058" y="1943100"/>
            <a:ext cx="4461734" cy="24003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EDF376-93D8-4598-BCAC-6ADC9344FF67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2724150" cy="266700"/>
          </a:xfrm>
          <a:prstGeom prst="rect">
            <a:avLst/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顾问反馈：家长更看重机构付出什么行动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A7177A3-B9D4-4871-A761-BF4B9418B256}"/>
              </a:ext>
            </a:extLst>
          </p:cNvPr>
          <p:cNvSpPr>
            <a:spLocks noGrp="1"/>
          </p:cNvSpPr>
          <p:nvPr/>
        </p:nvSpPr>
        <p:spPr>
          <a:xfrm>
            <a:off x="647700" y="4724400"/>
            <a:ext cx="66484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t="14530" b="14530"/>
          <a:stretch>
            <a:fillRect/>
          </a:stretch>
        </p:blipFill>
        <p:spPr>
          <a:xfrm>
            <a:off x="685800" y="4762500"/>
            <a:ext cx="6572250" cy="8001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2DFEE7D-7B53-4045-BD2A-A751D679D10C}"/>
              </a:ext>
            </a:extLst>
          </p:cNvPr>
          <p:cNvSpPr>
            <a:spLocks noGrp="1"/>
          </p:cNvSpPr>
          <p:nvPr/>
        </p:nvSpPr>
        <p:spPr>
          <a:xfrm>
            <a:off x="647700" y="4448175"/>
            <a:ext cx="2381250" cy="266700"/>
          </a:xfrm>
          <a:prstGeom prst="rect">
            <a:avLst/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后续建议：课程安排 / 课后复习建议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147B26B-FBC4-4647-955D-B13DB9BD57CE}"/>
              </a:ext>
            </a:extLst>
          </p:cNvPr>
          <p:cNvSpPr>
            <a:spLocks noGrp="1"/>
          </p:cNvSpPr>
          <p:nvPr/>
        </p:nvSpPr>
        <p:spPr>
          <a:xfrm>
            <a:off x="7791450" y="1943100"/>
            <a:ext cx="285750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l="2332" r="2332"/>
          <a:stretch>
            <a:fillRect/>
          </a:stretch>
        </p:blipFill>
        <p:spPr>
          <a:xfrm>
            <a:off x="7829550" y="1981200"/>
            <a:ext cx="2781300" cy="17526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5376207-89B3-4066-9396-584FD353AB27}"/>
              </a:ext>
            </a:extLst>
          </p:cNvPr>
          <p:cNvSpPr>
            <a:spLocks noGrp="1"/>
          </p:cNvSpPr>
          <p:nvPr/>
        </p:nvSpPr>
        <p:spPr>
          <a:xfrm>
            <a:off x="7854462" y="1628042"/>
            <a:ext cx="2000250" cy="266700"/>
          </a:xfrm>
          <a:prstGeom prst="rect">
            <a:avLst/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定位反馈：一线教学服务小切口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A0AB538-F915-4907-AE74-14EE3BCE6B0D}"/>
              </a:ext>
            </a:extLst>
          </p:cNvPr>
          <p:cNvSpPr>
            <a:spLocks noGrp="1"/>
          </p:cNvSpPr>
          <p:nvPr/>
        </p:nvSpPr>
        <p:spPr>
          <a:xfrm>
            <a:off x="7715250" y="4038600"/>
            <a:ext cx="3028950" cy="819150"/>
          </a:xfrm>
          <a:prstGeom prst="roundRect">
            <a:avLst>
              <a:gd name="adj" fmla="val 9302"/>
            </a:avLst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6CF7A7-A048-456B-86C9-A38EAE286462}"/>
              </a:ext>
            </a:extLst>
          </p:cNvPr>
          <p:cNvSpPr>
            <a:spLocks noGrp="1"/>
          </p:cNvSpPr>
          <p:nvPr/>
        </p:nvSpPr>
        <p:spPr>
          <a:xfrm>
            <a:off x="7886700" y="417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BA55"/>
                </a:solidFill>
                <a:latin typeface="微软雅黑"/>
                <a:ea typeface="微软雅黑"/>
                <a:cs typeface="微软雅黑"/>
              </a:rPr>
              <a:t>家长价值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06B02F-BC63-4066-89F5-76AB3CD7B142}"/>
              </a:ext>
            </a:extLst>
          </p:cNvPr>
          <p:cNvSpPr>
            <a:spLocks noGrp="1"/>
          </p:cNvSpPr>
          <p:nvPr/>
        </p:nvSpPr>
        <p:spPr>
          <a:xfrm>
            <a:off x="7886700" y="443865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不是只告诉家长孩子要努力，而是呈现机构做了哪些动作。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B870323-CF8A-4548-8ADB-07B03B7C6E32}"/>
              </a:ext>
            </a:extLst>
          </p:cNvPr>
          <p:cNvSpPr>
            <a:spLocks noGrp="1"/>
          </p:cNvSpPr>
          <p:nvPr/>
        </p:nvSpPr>
        <p:spPr>
          <a:xfrm>
            <a:off x="7715250" y="5010150"/>
            <a:ext cx="3028950" cy="819150"/>
          </a:xfrm>
          <a:prstGeom prst="roundRect">
            <a:avLst>
              <a:gd name="adj" fmla="val 9302"/>
            </a:avLst>
          </a:prstGeom>
          <a:solidFill>
            <a:srgbClr val="EAF8F1"/>
          </a:solidFill>
          <a:ln w="9525">
            <a:solidFill>
              <a:srgbClr val="56CA9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142C17-8A9B-41A6-9E80-9B5FD7358F5E}"/>
              </a:ext>
            </a:extLst>
          </p:cNvPr>
          <p:cNvSpPr>
            <a:spLocks noGrp="1"/>
          </p:cNvSpPr>
          <p:nvPr/>
        </p:nvSpPr>
        <p:spPr>
          <a:xfrm>
            <a:off x="7886700" y="5143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顾问可用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681028-5702-467A-9A8F-5EF84DBB8FB6}"/>
              </a:ext>
            </a:extLst>
          </p:cNvPr>
          <p:cNvSpPr>
            <a:spLocks noGrp="1"/>
          </p:cNvSpPr>
          <p:nvPr/>
        </p:nvSpPr>
        <p:spPr>
          <a:xfrm>
            <a:off x="7886700" y="54102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复习建议和后续课程建议能进入服务话术与续费跟进。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9E7D44-BEB3-417A-B040-60773C4E7A5A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39698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BAEEF6-4332-4A72-89BF-D563BEDF9E3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价值创造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03CB11-0675-4FE4-AE82-F4B5133D024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90% 提效不是终点，是质量升级的前提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949F440-DA38-4610-AC5A-EEB2D1CAE4E8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476750" cy="2857500"/>
          </a:xfrm>
          <a:prstGeom prst="roundRect">
            <a:avLst>
              <a:gd name="adj" fmla="val 2667"/>
            </a:avLst>
          </a:prstGeom>
          <a:solidFill>
            <a:srgbClr val="FFF6E8"/>
          </a:solidFill>
          <a:ln w="9525">
            <a:solidFill>
              <a:srgbClr val="FFBA5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B8DE88-9918-4669-B70C-7806F65D683C}"/>
              </a:ext>
            </a:extLst>
          </p:cNvPr>
          <p:cNvSpPr>
            <a:spLocks noGrp="1"/>
          </p:cNvSpPr>
          <p:nvPr/>
        </p:nvSpPr>
        <p:spPr>
          <a:xfrm>
            <a:off x="1200150" y="2647950"/>
            <a:ext cx="857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6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547822-650D-487C-A791-20E1D50AAC1B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552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21689F-4F61-4F0A-8053-B55FDEFE7EB1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手动整理单课服务包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93E2CA-8AB3-4A39-949B-14485BF50CEA}"/>
              </a:ext>
            </a:extLst>
          </p:cNvPr>
          <p:cNvSpPr>
            <a:spLocks noGrp="1"/>
          </p:cNvSpPr>
          <p:nvPr/>
        </p:nvSpPr>
        <p:spPr>
          <a:xfrm>
            <a:off x="3028950" y="2876550"/>
            <a:ext cx="533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5A60B9-C521-4CDB-B476-E69AB0780BF5}"/>
              </a:ext>
            </a:extLst>
          </p:cNvPr>
          <p:cNvSpPr>
            <a:spLocks noGrp="1"/>
          </p:cNvSpPr>
          <p:nvPr/>
        </p:nvSpPr>
        <p:spPr>
          <a:xfrm>
            <a:off x="3676650" y="2647950"/>
            <a:ext cx="514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60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82EF7E-DA9B-461B-BAF9-249D1EA1C162}"/>
              </a:ext>
            </a:extLst>
          </p:cNvPr>
          <p:cNvSpPr>
            <a:spLocks noGrp="1"/>
          </p:cNvSpPr>
          <p:nvPr/>
        </p:nvSpPr>
        <p:spPr>
          <a:xfrm>
            <a:off x="4248150" y="281940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B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A55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4F0665-3EF7-4264-917B-D4ADF6C938AE}"/>
              </a:ext>
            </a:extLst>
          </p:cNvPr>
          <p:cNvSpPr>
            <a:spLocks noGrp="1"/>
          </p:cNvSpPr>
          <p:nvPr/>
        </p:nvSpPr>
        <p:spPr>
          <a:xfrm>
            <a:off x="3276600" y="33718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系统生成后老师质检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5362B5-36B8-43CE-A570-E3C525F39B8D}"/>
              </a:ext>
            </a:extLst>
          </p:cNvPr>
          <p:cNvSpPr>
            <a:spLocks noGrp="1"/>
          </p:cNvSpPr>
          <p:nvPr/>
        </p:nvSpPr>
        <p:spPr>
          <a:xfrm>
            <a:off x="2228850" y="3810000"/>
            <a:ext cx="1619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E31B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31B23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C01473-DC98-4C2A-9DA5-E0404369EABE}"/>
              </a:ext>
            </a:extLst>
          </p:cNvPr>
          <p:cNvSpPr>
            <a:spLocks noGrp="1"/>
          </p:cNvSpPr>
          <p:nvPr/>
        </p:nvSpPr>
        <p:spPr>
          <a:xfrm>
            <a:off x="1924050" y="44386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5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课堂反馈利用</a:t>
            </a:r>
            <a:r>
              <a:rPr sz="135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提效</a:t>
            </a:r>
            <a:endParaRPr sz="135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B2F0465-94A5-4F63-B950-3A324BCA2CFC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4476750" cy="2476500"/>
          </a:xfrm>
          <a:prstGeom prst="roundRect">
            <a:avLst>
              <a:gd name="adj" fmla="val 3077"/>
            </a:avLst>
          </a:prstGeom>
          <a:solidFill>
            <a:srgbClr val="EEF5FF"/>
          </a:solidFill>
          <a:ln w="9525">
            <a:solidFill>
              <a:srgbClr val="6096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7DD96F-2CD6-46CD-9702-E24465552F0D}"/>
              </a:ext>
            </a:extLst>
          </p:cNvPr>
          <p:cNvSpPr>
            <a:spLocks noGrp="1"/>
          </p:cNvSpPr>
          <p:nvPr/>
        </p:nvSpPr>
        <p:spPr>
          <a:xfrm>
            <a:off x="6572250" y="24003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释放时间后，服务才有升级空间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E92C0A-6089-4A2C-BEF2-C61E38AC0CA0}"/>
              </a:ext>
            </a:extLst>
          </p:cNvPr>
          <p:cNvSpPr>
            <a:spLocks noGrp="1"/>
          </p:cNvSpPr>
          <p:nvPr/>
        </p:nvSpPr>
        <p:spPr>
          <a:xfrm>
            <a:off x="6572250" y="2990850"/>
            <a:ext cx="3238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老师能把时间放回</a:t>
            </a:r>
            <a:r>
              <a:rPr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defRPr sz="15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575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更精准的课堂反馈</a:t>
            </a:r>
            <a:r>
              <a:rPr lang="zh-CN" altLang="en-US"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（真实课堂互动设计</a:t>
            </a:r>
            <a:endParaRPr sz="1575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575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更稳定的助教跟进</a:t>
            </a:r>
            <a:endParaRPr sz="1575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575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可复盘的服务资产</a:t>
            </a:r>
            <a:endParaRPr sz="1575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75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575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下一轮真实反馈迭代</a:t>
            </a:r>
            <a:endParaRPr sz="1575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5405D3-908D-4D02-96E2-182488241724}"/>
              </a:ext>
            </a:extLst>
          </p:cNvPr>
          <p:cNvSpPr>
            <a:spLocks noGrp="1"/>
          </p:cNvSpPr>
          <p:nvPr/>
        </p:nvSpPr>
        <p:spPr>
          <a:xfrm>
            <a:off x="990600" y="5162550"/>
            <a:ext cx="838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边界：这是小样本观察</a:t>
            </a:r>
            <a:r>
              <a:rPr sz="1500" b="1" dirty="0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500" b="1" dirty="0" err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理论上限，不写成大样本统计</a:t>
            </a:r>
            <a:r>
              <a:rPr sz="1500" b="1" dirty="0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ADA78F-8243-44AA-AA96-AB52C54A1C1C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194011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76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63CDE8-96DC-4218-9EE0-1386D1D2861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619250" cy="285750"/>
          </a:xfrm>
          <a:prstGeom prst="rect">
            <a:avLst/>
          </a:prstGeom>
          <a:solidFill>
            <a:srgbClr val="EEF5FF"/>
          </a:solidFill>
          <a:ln w="9525">
            <a:solidFill>
              <a:srgbClr val="D9E1E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1">
                <a:solidFill>
                  <a:srgbClr val="6096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96E6"/>
                </a:solidFill>
                <a:latin typeface="Arial"/>
                <a:ea typeface="Arial"/>
                <a:cs typeface="Arial"/>
              </a:rPr>
              <a:t>收束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323762-262D-47D5-9277-2B30D77397C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我讲清楚边界，再推进可复制试点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4D35FA-3BF1-4D99-B73F-6D0C5715187F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31B2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E31B23"/>
                </a:solidFill>
                <a:latin typeface="微软雅黑"/>
                <a:ea typeface="微软雅黑"/>
                <a:cs typeface="微软雅黑"/>
              </a:rPr>
              <a:t>三不承诺</a:t>
            </a:r>
            <a:endParaRPr sz="1875" b="1" dirty="0">
              <a:solidFill>
                <a:srgbClr val="E31B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10227D-2DA2-475F-85C4-0E6A0816EC5A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MVP </a:t>
            </a: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试点口径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小范围样本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只讲过程指标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C04467-14E1-4795-8C73-3D92A418C5CF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6096E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6096E6"/>
                </a:solidFill>
                <a:latin typeface="微软雅黑"/>
                <a:ea typeface="微软雅黑"/>
                <a:cs typeface="微软雅黑"/>
              </a:rPr>
              <a:t>下一阶段</a:t>
            </a:r>
            <a:endParaRPr sz="1875" b="1" dirty="0">
              <a:solidFill>
                <a:srgbClr val="6096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0E819D-C32E-4AB1-85A8-F79E4F94F580}"/>
              </a:ext>
            </a:extLst>
          </p:cNvPr>
          <p:cNvSpPr>
            <a:spLocks noGrp="1"/>
          </p:cNvSpPr>
          <p:nvPr/>
        </p:nvSpPr>
        <p:spPr>
          <a:xfrm>
            <a:off x="4229100" y="287655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05-28 </a:t>
            </a: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端到端彩排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冻结</a:t>
            </a:r>
            <a:r>
              <a:rPr sz="150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Live / 0 Live </a:t>
            </a: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版本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补</a:t>
            </a:r>
            <a:r>
              <a:rPr sz="1500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45 </a:t>
            </a:r>
            <a:r>
              <a:rPr sz="1500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秒视频</a:t>
            </a:r>
            <a:endParaRPr sz="1500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A8E968-2142-46B4-B90A-A1204BE82E28}"/>
              </a:ext>
            </a:extLst>
          </p:cNvPr>
          <p:cNvSpPr>
            <a:spLocks noGrp="1"/>
          </p:cNvSpPr>
          <p:nvPr/>
        </p:nvSpPr>
        <p:spPr>
          <a:xfrm>
            <a:off x="7505700" y="23241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6CA9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56CA95"/>
                </a:solidFill>
                <a:latin typeface="微软雅黑"/>
                <a:ea typeface="微软雅黑"/>
                <a:cs typeface="微软雅黑"/>
              </a:rPr>
              <a:t>团队角色</a:t>
            </a:r>
            <a:endParaRPr sz="1875" b="1" dirty="0">
              <a:solidFill>
                <a:srgbClr val="56CA9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286137-5B3B-46C6-9894-27FD59E27CA6}"/>
              </a:ext>
            </a:extLst>
          </p:cNvPr>
          <p:cNvSpPr>
            <a:spLocks noGrp="1"/>
          </p:cNvSpPr>
          <p:nvPr/>
        </p:nvSpPr>
        <p:spPr>
          <a:xfrm>
            <a:off x="7505700" y="287655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一线雅思教师</a:t>
            </a: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项目技术负责人</a:t>
            </a:r>
          </a:p>
          <a:p>
            <a:pPr algn="l">
              <a:def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飞书低代码落地者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A083D5-8F35-410F-A6FC-51AAC08C3480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68580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EBE49B-8A2A-478D-94EE-171F6D30AC9C}"/>
              </a:ext>
            </a:extLst>
          </p:cNvPr>
          <p:cNvSpPr>
            <a:spLocks noGrp="1"/>
          </p:cNvSpPr>
          <p:nvPr/>
        </p:nvSpPr>
        <p:spPr>
          <a:xfrm>
            <a:off x="1466850" y="48387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我的目标不是做一个炫技展示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1A8B3F-2E42-4742-B326-272DFD437BA0}"/>
              </a:ext>
            </a:extLst>
          </p:cNvPr>
          <p:cNvSpPr>
            <a:spLocks noGrp="1"/>
          </p:cNvSpPr>
          <p:nvPr/>
        </p:nvSpPr>
        <p:spPr>
          <a:xfrm>
            <a:off x="1466850" y="52578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1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而是把雅思课后服务里最容易丢失的内容，变成学生可复习、老师可确认、助教可跟进的数据资产</a:t>
            </a:r>
            <a:r>
              <a:rPr lang="zh-CN" altLang="en-US" sz="1425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，结合</a:t>
            </a:r>
            <a:r>
              <a:rPr lang="en-US" altLang="zh-CN" sz="1425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1425" b="1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，低成本高效果，推动服务升级</a:t>
            </a:r>
            <a:endParaRPr sz="1425" b="1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CFB004-AC53-4318-AAEA-9AD1291C0C04}"/>
              </a:ext>
            </a:extLst>
          </p:cNvPr>
          <p:cNvSpPr>
            <a:spLocks noGrp="1"/>
          </p:cNvSpPr>
          <p:nvPr/>
        </p:nvSpPr>
        <p:spPr>
          <a:xfrm>
            <a:off x="8496300" y="49149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F2C66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594AD0-96B4-4600-AF31-589AB821AEDC}"/>
              </a:ext>
            </a:extLst>
          </p:cNvPr>
          <p:cNvSpPr>
            <a:spLocks noGrp="1"/>
          </p:cNvSpPr>
          <p:nvPr/>
        </p:nvSpPr>
        <p:spPr>
          <a:xfrm>
            <a:off x="10668000" y="64198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AA7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7B6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2367562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628</Words>
  <Application>Microsoft Macintosh PowerPoint</Application>
  <DocSecurity>0</DocSecurity>
  <PresentationFormat>宽屏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敬文 闫</cp:lastModifiedBy>
  <cp:revision>3</cp:revision>
  <dcterms:created xsi:type="dcterms:W3CDTF">2026-05-28T02:25:52Z</dcterms:created>
  <dcterms:modified xsi:type="dcterms:W3CDTF">2026-05-28T08:02:54Z</dcterms:modified>
</cp:coreProperties>
</file>